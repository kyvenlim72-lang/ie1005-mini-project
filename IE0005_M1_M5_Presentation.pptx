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b38d1c284f4de7" /><Relationship Type="http://schemas.openxmlformats.org/officeDocument/2006/relationships/extended-properties" Target="/docProps/app.xml" Id="R7c0cdf12d8754f03" /><Relationship Type="http://schemas.openxmlformats.org/officeDocument/2006/relationships/officeDocument" Target="/ppt/presentation.xml" Id="R4eb13acc985c4b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028d2f24b74b03"/>
  </p:sldMasterIdLst>
  <p:notesMasterIdLst>
    <p:notesMasterId xmlns:r="http://schemas.openxmlformats.org/officeDocument/2006/relationships" r:id="Rce8c4faa91874534"/>
  </p:notesMasterIdLst>
  <p:sldIdLst>
    <p:sldId xmlns:r="http://schemas.openxmlformats.org/officeDocument/2006/relationships" id="256" r:id="R4e5544e64ae2444e"/>
    <p:sldId xmlns:r="http://schemas.openxmlformats.org/officeDocument/2006/relationships" id="257" r:id="Rd36a62397a51419c"/>
    <p:sldId xmlns:r="http://schemas.openxmlformats.org/officeDocument/2006/relationships" id="258" r:id="R7a4a7d9a530e460a"/>
    <p:sldId xmlns:r="http://schemas.openxmlformats.org/officeDocument/2006/relationships" id="259" r:id="R4700d9b4e67540a0"/>
    <p:sldId xmlns:r="http://schemas.openxmlformats.org/officeDocument/2006/relationships" id="260" r:id="Ra787dd3ccaab4538"/>
    <p:sldId xmlns:r="http://schemas.openxmlformats.org/officeDocument/2006/relationships" id="261" r:id="R6502cbdcf7e445dd"/>
    <p:sldId xmlns:r="http://schemas.openxmlformats.org/officeDocument/2006/relationships" id="262" r:id="Rf2ffdb5ec59e43ac"/>
    <p:sldId xmlns:r="http://schemas.openxmlformats.org/officeDocument/2006/relationships" id="263" r:id="Rc5458c1781294b29"/>
    <p:sldId xmlns:r="http://schemas.openxmlformats.org/officeDocument/2006/relationships" id="264" r:id="R9ba901b4aa5843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cc0d8809034fde" /><Relationship Type="http://schemas.openxmlformats.org/officeDocument/2006/relationships/slideMaster" Target="/ppt/slideMasters/slideMaster1.xml" Id="R92028d2f24b74b03" /><Relationship Type="http://schemas.openxmlformats.org/officeDocument/2006/relationships/notesMaster" Target="/ppt/notesMasters/notesMaster1.xml" Id="Rce8c4faa91874534" /><Relationship Type="http://schemas.openxmlformats.org/officeDocument/2006/relationships/presProps" Target="/ppt/presProps.xml" Id="R4243901d80094c38" /><Relationship Type="http://schemas.openxmlformats.org/officeDocument/2006/relationships/tableStyles" Target="/ppt/tableStyles.xml" Id="R149dde8995544036" /><Relationship Type="http://schemas.openxmlformats.org/officeDocument/2006/relationships/slide" Target="/ppt/slides/slide1.xml" Id="R4e5544e64ae2444e" /><Relationship Type="http://schemas.openxmlformats.org/officeDocument/2006/relationships/slide" Target="/ppt/slides/slide2.xml" Id="Rd36a62397a51419c" /><Relationship Type="http://schemas.openxmlformats.org/officeDocument/2006/relationships/slide" Target="/ppt/slides/slide3.xml" Id="R7a4a7d9a530e460a" /><Relationship Type="http://schemas.openxmlformats.org/officeDocument/2006/relationships/slide" Target="/ppt/slides/slide4.xml" Id="R4700d9b4e67540a0" /><Relationship Type="http://schemas.openxmlformats.org/officeDocument/2006/relationships/slide" Target="/ppt/slides/slide5.xml" Id="Ra787dd3ccaab4538" /><Relationship Type="http://schemas.openxmlformats.org/officeDocument/2006/relationships/slide" Target="/ppt/slides/slide6.xml" Id="R6502cbdcf7e445dd" /><Relationship Type="http://schemas.openxmlformats.org/officeDocument/2006/relationships/slide" Target="/ppt/slides/slide7.xml" Id="Rf2ffdb5ec59e43ac" /><Relationship Type="http://schemas.openxmlformats.org/officeDocument/2006/relationships/slide" Target="/ppt/slides/slide8.xml" Id="Rc5458c1781294b29" /><Relationship Type="http://schemas.openxmlformats.org/officeDocument/2006/relationships/slide" Target="/ppt/slides/slide9.xml" Id="R9ba901b4aa5843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9ed08f0ce44f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6a49cd8660401c" /><Relationship Type="http://schemas.openxmlformats.org/officeDocument/2006/relationships/notesMaster" Target="/ppt/notesMasters/notesMaster1.xml" Id="R1e2ea0030ee94c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56e9096c014fee" /><Relationship Type="http://schemas.openxmlformats.org/officeDocument/2006/relationships/notesMaster" Target="/ppt/notesMasters/notesMaster1.xml" Id="R32699ebaa6a043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5239504a3e4d96" /><Relationship Type="http://schemas.openxmlformats.org/officeDocument/2006/relationships/notesMaster" Target="/ppt/notesMasters/notesMaster1.xml" Id="R03fbc1803b4e41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744beccfe44391" /><Relationship Type="http://schemas.openxmlformats.org/officeDocument/2006/relationships/notesMaster" Target="/ppt/notesMasters/notesMaster1.xml" Id="Rc7580339b10a48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27d07abdf54ad1" /><Relationship Type="http://schemas.openxmlformats.org/officeDocument/2006/relationships/notesMaster" Target="/ppt/notesMasters/notesMaster1.xml" Id="R66dd2869369b44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144eb3c970434f" /><Relationship Type="http://schemas.openxmlformats.org/officeDocument/2006/relationships/notesMaster" Target="/ppt/notesMasters/notesMaster1.xml" Id="Rba868b095fbb4d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af42cee4b44962" /><Relationship Type="http://schemas.openxmlformats.org/officeDocument/2006/relationships/notesMaster" Target="/ppt/notesMasters/notesMaster1.xml" Id="R3a71a4e0fd6440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f5d42edd30485a" /><Relationship Type="http://schemas.openxmlformats.org/officeDocument/2006/relationships/notesMaster" Target="/ppt/notesMasters/notesMaster1.xml" Id="R576bfe04b5be4e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d41ebfeb794c44" /><Relationship Type="http://schemas.openxmlformats.org/officeDocument/2006/relationships/notesMaster" Target="/ppt/notesMasters/notesMaster1.xml" Id="R9782058977904a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 seconds. Explain that this is a copy of the current IE0005 notebook, preserving its binary target. The 18+ label groups R, TV-MA and NC-17; these are not official equivalent age thresholds. Title and show ID are for inspection, never predictors.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project CSV and executed IE0005_M1_M5_Style.ipynb; all figures use the saved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60 seconds. Remove 83 unrated labels, 4 missing ratings, 3 unexpected duration-like values and 31 repeated descriptions. Keeping the first repeated synopsis follows the source notebook; it can discard genuinely different titles/labels. Conflicting groups are reported. The project 18+ proxy contains R, TV-MA and NC-17, not official equivalent age thresholds.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project CSV and executed IE0005_M1_M5_Style.ipynb; all figures use the saved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75 seconds. The bars show the share of titles with the project 18+ label inside each genre. A title can carry several genres. Only genres with at least 100 training titles are included. Training observations only; associations are not causal. The notebook also retains common words and description-length analyses.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project CSV and executed IE0005_M1_M5_Style.ipynb; all figures use the saved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75 seconds. Retain the source notebook's stratified 80/20 split, seed 42. Normalized repeated descriptions are deduplicated first. Five-fold cross-validation on the training set selects alpha from 0.1, 0.5, 1 and 2. Vectorization is inside each pipeline and learns only on that fold's training rows. The test set never tunes alpha.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project CSV and executed IE0005_M1_M5_Style.ipynb; all figures use the saved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75 seconds. Combined Naive Bayes is the best of the three inputs on training CV and on this held-out test split. Test accuracy is 70.8% versus 53.9% for the majority baseline. Macro F1 is 0.707. These differences are descriptive for this split, not a statistical significance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project CSV and executed IE0005_M1_M5_Style.ipynb; all figures use the saved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 seconds. Rows are actual classes and columns are predictions. 238 titles with project 18+ labels are missed; 269 Not 18+ titles are predicted 18+. The notebook reports accuracy by original rating with support counts and shows error examples. Word counts cannot see scenes or omitted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project CSV and executed IE0005_M1_M5_Style.ipynb; all figures use the saved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60 seconds. Open section 14 in the notebook. Edit an invented synopsis and genre and run the cell. The combined model uses its existing vocabulary without retraining. Show known-token counts and explain that scores are uncalibrated; true labels for these invented examples are unknown.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project CSV and executed IE0005_M1_M5_Style.ipynb; all figures use the saved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 seconds. The predictors carry signal above the training-majority baseline. The binary 18+ proxy and one held-out split limit the claim. Mention the new code provenance notes and the source notebook's keep-first policy for duplicates. Before presenting the team must add and explain actual member contributions. Optional M5 results are exploratory.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project CSV and executed IE0005_M1_M5_Style.ipynb; all figures use the saved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 slide. Sources: M1 DataAcquisition; M2 BasicStatistics and ExploratoryAnalysis; M4 ClassificationTree; M5 ClusteringPatterns and DetectingAnomalies. External API references: https://scikit-learn.org/stable/modules/generated/sklearn.feature_extraction.text.CountVectorizer.html ; https://scikit-learn.org/stable/modules/generated/sklearn.naive_bayes.MultinomialNB.html ; https://scikit-learn.org/stable/modules/generated/sklearn.metrics.classification_report.html . New project logic and export code are explicitly labeled in the notebook. PowerPoint authoring tooling is separate from the 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project CSV and executed IE0005_M1_M5_Style.ipynb; all figures use the saved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c512a6882b4ad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af8e41c4f1489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6ff1b422344a6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92aafca196426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0a6b952e0b4a4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cc0176f0ce46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86E184-F64D-4C96-9DB5-701005C47F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8F413ED-FA3C-4060-B4F1-EABB22A1BD1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B7C3CB0-8795-41F6-BA27-DB39D6DE45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BC30AF-75CD-4FFA-86E9-7213114CFD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224C817-0914-48C5-9C58-78CC46B342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ABEFFA4-107E-4FFD-B797-FFB218D86E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AF291C3-D283-4954-8653-79BA6ADADD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633A80B-769A-412F-BF0B-658528B42BB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771850-8ACC-458E-B8AE-1BF9F0D310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B800CD1-5542-4D8E-BACC-8A140C98D0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71a9fb3ac34b5d" /><Relationship Type="http://schemas.openxmlformats.org/officeDocument/2006/relationships/slideLayout" Target="/ppt/slideLayouts/slideLayout1.xml" Id="R5102b6f7bbde44c1" /><Relationship Type="http://schemas.openxmlformats.org/officeDocument/2006/relationships/slideLayout" Target="/ppt/slideLayouts/slideLayout2.xml" Id="R44ce7a5c1fad4f9b" /><Relationship Type="http://schemas.openxmlformats.org/officeDocument/2006/relationships/slideLayout" Target="/ppt/slideLayouts/slideLayout3.xml" Id="R6e670be3e6254203" /><Relationship Type="http://schemas.openxmlformats.org/officeDocument/2006/relationships/slideLayout" Target="/ppt/slideLayouts/slideLayout4.xml" Id="R17451db018924c9e" /><Relationship Type="http://schemas.openxmlformats.org/officeDocument/2006/relationships/slideLayout" Target="/ppt/slideLayouts/slideLayout5.xml" Id="R398bf67dd30a4938" /><Relationship Type="http://schemas.openxmlformats.org/officeDocument/2006/relationships/slideLayout" Target="/ppt/slideLayouts/slideLayout6.xml" Id="Rac9ecaa9dd6a4c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02b6f7bbde44c1"/>
    <p:sldLayoutId xmlns:r="http://schemas.openxmlformats.org/officeDocument/2006/relationships" id="2147483650" r:id="R44ce7a5c1fad4f9b"/>
    <p:sldLayoutId xmlns:r="http://schemas.openxmlformats.org/officeDocument/2006/relationships" id="2147483651" r:id="R6e670be3e6254203"/>
    <p:sldLayoutId xmlns:r="http://schemas.openxmlformats.org/officeDocument/2006/relationships" id="2147483652" r:id="R17451db018924c9e"/>
    <p:sldLayoutId xmlns:r="http://schemas.openxmlformats.org/officeDocument/2006/relationships" id="2147483653" r:id="R398bf67dd30a4938"/>
    <p:sldLayoutId xmlns:r="http://schemas.openxmlformats.org/officeDocument/2006/relationships" id="2147483654" r:id="Rac9ecaa9dd6a4c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ac1568a516456d" /><Relationship Type="http://schemas.openxmlformats.org/officeDocument/2006/relationships/notesSlide" Target="/ppt/notesSlides/notesSlide1.xml" Id="R10fbd73936204a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4dd8b38eb84a05" /><Relationship Type="http://schemas.openxmlformats.org/officeDocument/2006/relationships/notesSlide" Target="/ppt/notesSlides/notesSlide2.xml" Id="Rde9dcf8e10f445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9ed93dd07c4f3f" /><Relationship Type="http://schemas.openxmlformats.org/officeDocument/2006/relationships/chart" Target="/ppt/slides/charts/chart1.xml" Id="Rbcd699b8ad5449ae" /><Relationship Type="http://schemas.openxmlformats.org/officeDocument/2006/relationships/notesSlide" Target="/ppt/notesSlides/notesSlide3.xml" Id="R1f2345acc7384c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5c4c52db904ce7" /><Relationship Type="http://schemas.openxmlformats.org/officeDocument/2006/relationships/notesSlide" Target="/ppt/notesSlides/notesSlide4.xml" Id="R0e44d9f9b3f242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f948e1fb274990" /><Relationship Type="http://schemas.openxmlformats.org/officeDocument/2006/relationships/notesSlide" Target="/ppt/notesSlides/notesSlide5.xml" Id="R4f39b0f3c1414a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dfbff347db4bd8" /><Relationship Type="http://schemas.openxmlformats.org/officeDocument/2006/relationships/notesSlide" Target="/ppt/notesSlides/notesSlide6.xml" Id="Rd482ea8a9eeb46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c13928d3694515" /><Relationship Type="http://schemas.openxmlformats.org/officeDocument/2006/relationships/notesSlide" Target="/ppt/notesSlides/notesSlide7.xml" Id="R038990d147fc43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25babe7c374d78" /><Relationship Type="http://schemas.openxmlformats.org/officeDocument/2006/relationships/notesSlide" Target="/ppt/notesSlides/notesSlide8.xml" Id="R34f258bc3d7145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e06e1d5b9d4cee" /><Relationship Type="http://schemas.openxmlformats.org/officeDocument/2006/relationships/notesSlide" Target="/ppt/notesSlides/notesSlide9.xml" Id="Rd4a44b103434481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Share with project 18+ label</c:v>
          </c:tx>
          <c:spPr>
            <a:solidFill xmlns:a="http://schemas.openxmlformats.org/drawingml/2006/main">
              <a:srgbClr val="087E8B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Kids' TV</c:v>
                </c:pt>
                <c:pt idx="1">
                  <c:v>Children &amp; Family Movies</c:v>
                </c:pt>
                <c:pt idx="2">
                  <c:v>Dramas</c:v>
                </c:pt>
                <c:pt idx="3">
                  <c:v>Horror Movies</c:v>
                </c:pt>
                <c:pt idx="4">
                  <c:v>Stand-Up Comedy</c:v>
                </c:pt>
              </c:strCache>
            </c:strRef>
          </c:cat>
          <c:val>
            <c:numRef>
              <c:f>'Chart Data'!$B$2:$B$6</c:f>
              <c:numCache>
                <c:formatCode>0%</c:formatCode>
                <c:ptCount val="5"/>
                <c:pt idx="0">
                  <c:v>0</c:v>
                </c:pt>
                <c:pt idx="1">
                  <c:v>0.002</c:v>
                </c:pt>
                <c:pt idx="2">
                  <c:v>0.5034</c:v>
                </c:pt>
                <c:pt idx="3">
                  <c:v>0.7301</c:v>
                </c:pt>
                <c:pt idx="4">
                  <c:v>0.8839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5DFE8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4E748-A468-46F5-AA39-B780540A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Netflix age-rating groups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0EB08-980C-4172-B3FC-D8E0336D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70"/>
                </a:solidFill>
                <a:latin typeface="Arial"/>
                <a:ea typeface="Arial"/>
                <a:cs typeface="Arial"/>
              </a:rPr>
              <a:t>IE0005  •  Netflix age-rating groups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3497EF-419D-48A8-95BC-97F5EEB1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7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F441E-0FEB-46CA-81D9-CAF206F1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435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defPPr>
            <a:lvl1pPr>
              <a:defRPr sz="435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1pPr>
            <a:lvl2pPr>
              <a:defRPr sz="435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2pPr>
            <a:lvl3pPr>
              <a:defRPr sz="435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3pPr>
            <a:lvl4pPr>
              <a:defRPr sz="435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4pPr>
            <a:lvl5pPr>
              <a:defRPr sz="435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5pPr>
            <a:lvl6pPr>
              <a:defRPr sz="435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6pPr>
            <a:lvl7pPr>
              <a:defRPr sz="435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7pPr>
            <a:lvl8pPr>
              <a:defRPr sz="435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8pPr>
            <a:lvl9pPr>
              <a:defRPr sz="435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Can genre and description</a:t>
            </a:r>
          </a:p>
          <a:p xmlns:a="http://schemas.openxmlformats.org/drawingml/2006/main">
            <a:pPr>
              <a:defRPr sz="435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predict the rating group?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29524-EE09-46C2-9EA0-80642B3A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Genre + description → project “18+” / “Not 18+”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3173CD-28AC-440D-BFCD-98B0FFAE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B5C70"/>
                </a:solidFill>
                <a:latin typeface="Arial"/>
                <a:ea typeface="Arial"/>
                <a:cs typeface="Arial"/>
              </a:rPr>
              <a:t>8,807 titles in the source CSV</a:t>
            </a:r>
          </a:p>
          <a:p xmlns:a="http://schemas.openxmlformats.org/drawingml/2006/main">
            <a:pPr>
              <a:defRPr sz="20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B5C70"/>
                </a:solidFill>
                <a:latin typeface="Arial"/>
                <a:ea typeface="Arial"/>
                <a:cs typeface="Arial"/>
              </a:rPr>
              <a:t>Course methods from M1, M2, M4 and M5</a:t>
            </a:r>
          </a:p>
        </p:txBody>
      </p:sp>
    </p:spTree>
    <p:extLst>
      <p:ext uri="{BB962C8B-B14F-4D97-AF65-F5344CB8AC3E}">
        <p14:creationId xmlns:p14="http://schemas.microsoft.com/office/powerpoint/2010/main" val="1088341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9F5A67-C8BD-4209-ACA4-5CB28851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Dataset preparation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93FD0-0621-48D7-AC17-3762DF08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70"/>
                </a:solidFill>
                <a:latin typeface="Arial"/>
                <a:ea typeface="Arial"/>
                <a:cs typeface="Arial"/>
              </a:rPr>
              <a:t>IE0005  •  Netflix age-rating groups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F146F-307B-4E3A-8276-7BADB347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7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F0C3C-4E05-4E4D-9CB5-5FCD0E4929D6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5524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57625"/>
                <a:gridCol w="1666875"/>
              </a:tblGrid>
              <a:tr h="530679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step</a:t>
                      </a:r>
                    </a:p>
                  </a:txBody>
                  <a:tcPr marL="114300" marR="114300" marT="95250" marB="76200">
                    <a:lnL w="9525">
                      <a:solidFill>
                        <a:srgbClr val="D5DFE8"/>
                      </a:solidFill>
                      <a:prstDash val="solid"/>
                    </a:lnL>
                    <a:lnR w="9525">
                      <a:solidFill>
                        <a:srgbClr val="D5DFE8"/>
                      </a:solidFill>
                      <a:prstDash val="solid"/>
                    </a:lnR>
                    <a:lnT w="9525">
                      <a:solidFill>
                        <a:srgbClr val="D5DFE8"/>
                      </a:solidFill>
                      <a:prstDash val="solid"/>
                    </a:lnT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13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Titles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T w="9525">
                      <a:solidFill>
                        <a:srgbClr val="D5DFE8"/>
                      </a:solidFill>
                      <a:prstDash val="solid"/>
                    </a:lnT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13243A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Original CSV</a:t>
                      </a:r>
                    </a:p>
                  </a:txBody>
                  <a:tcPr marL="114300" marR="114300" marT="95250" marB="76200">
                    <a:lnL w="9525">
                      <a:solidFill>
                        <a:srgbClr val="D5DFE8"/>
                      </a:solidFill>
                      <a:prstDash val="solid"/>
                    </a:lnL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8,807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Unrated (NR / UR)</a:t>
                      </a:r>
                    </a:p>
                  </a:txBody>
                  <a:tcPr marL="114300" marR="114300" marT="95250" marB="76200">
                    <a:lnL w="9525">
                      <a:solidFill>
                        <a:srgbClr val="D5DFE8"/>
                      </a:solidFill>
                      <a:prstDash val="solid"/>
                    </a:lnL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83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Missing rating</a:t>
                      </a:r>
                    </a:p>
                  </a:txBody>
                  <a:tcPr marL="114300" marR="114300" marT="95250" marB="76200">
                    <a:lnL w="9525">
                      <a:solidFill>
                        <a:srgbClr val="D5DFE8"/>
                      </a:solidFill>
                      <a:prstDash val="solid"/>
                    </a:lnL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Unexpected rating</a:t>
                      </a:r>
                    </a:p>
                  </a:txBody>
                  <a:tcPr marL="114300" marR="114300" marT="95250" marB="76200">
                    <a:lnL w="9525">
                      <a:solidFill>
                        <a:srgbClr val="D5DFE8"/>
                      </a:solidFill>
                      <a:prstDash val="solid"/>
                    </a:lnL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Repeated description</a:t>
                      </a:r>
                    </a:p>
                  </a:txBody>
                  <a:tcPr marL="114300" marR="114300" marT="95250" marB="76200">
                    <a:lnL w="9525">
                      <a:solidFill>
                        <a:srgbClr val="D5DFE8"/>
                      </a:solidFill>
                      <a:prstDash val="solid"/>
                    </a:lnL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31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Clean dataset</a:t>
                      </a:r>
                    </a:p>
                  </a:txBody>
                  <a:tcPr marL="114300" marR="114300" marT="95250" marB="76200">
                    <a:lnL w="9525">
                      <a:solidFill>
                        <a:srgbClr val="D5DFE8"/>
                      </a:solidFill>
                      <a:prstDash val="solid"/>
                    </a:lnL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8,686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EAF5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B282C-1AE8-42CD-9D8C-6522B2FD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7162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Project target groups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F6E0C-BC59-40A5-9FD8-D3A7E154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33625"/>
            <a:ext cx="4476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325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3243A"/>
                </a:solidFill>
                <a:latin typeface="Arial"/>
                <a:ea typeface="Arial"/>
                <a:cs typeface="Arial"/>
              </a:rPr>
              <a:t>Not 18+: 4,682</a:t>
            </a:r>
          </a:p>
          <a:p xmlns:a="http://schemas.openxmlformats.org/drawingml/2006/main">
            <a:pPr>
              <a:defRPr sz="2325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3243A"/>
                </a:solidFill>
                <a:latin typeface="Arial"/>
                <a:ea typeface="Arial"/>
                <a:cs typeface="Arial"/>
              </a:rPr>
              <a:t>18+: 4,004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5180B7-F4E6-4112-A189-9331C4C4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4476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B5C70"/>
                </a:solidFill>
                <a:latin typeface="Arial"/>
                <a:ea typeface="Arial"/>
                <a:cs typeface="Arial"/>
              </a:rPr>
              <a:t>18+ = R, TV-MA or NC-17.</a:t>
            </a:r>
          </a:p>
          <a:p xmlns:a="http://schemas.openxmlformats.org/drawingml/2006/main">
            <a:pPr>
              <a:defRPr sz="18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B5C70"/>
                </a:solidFill>
                <a:latin typeface="Arial"/>
                <a:ea typeface="Arial"/>
                <a:cs typeface="Arial"/>
              </a:rPr>
              <a:t>This is a project proxy, not an</a:t>
            </a:r>
          </a:p>
          <a:p xmlns:a="http://schemas.openxmlformats.org/drawingml/2006/main">
            <a:pPr>
              <a:defRPr sz="18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B5C70"/>
                </a:solidFill>
                <a:latin typeface="Arial"/>
                <a:ea typeface="Arial"/>
                <a:cs typeface="Arial"/>
              </a:rPr>
              <a:t>official common age threshold.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2FF62-BAFC-4097-A543-73C51AA6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B5C70"/>
                </a:solidFill>
                <a:latin typeface="Arial"/>
                <a:ea typeface="Arial"/>
                <a:cs typeface="Arial"/>
              </a:rPr>
              <a:t>Missing director/country values do not remove otherwise usable titles.</a:t>
            </a:r>
          </a:p>
        </p:txBody>
      </p:sp>
    </p:spTree>
    <p:extLst>
      <p:ext uri="{BB962C8B-B14F-4D97-AF65-F5344CB8AC3E}">
        <p14:creationId xmlns:p14="http://schemas.microsoft.com/office/powerpoint/2010/main" val="14430175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7193C8-D328-481F-B898-48C61F4B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Genre patterns in the training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FA8E94-55BD-4652-BF6D-F10734B2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70"/>
                </a:solidFill>
                <a:latin typeface="Arial"/>
                <a:ea typeface="Arial"/>
                <a:cs typeface="Arial"/>
              </a:rPr>
              <a:t>IE0005  •  Netflix age-rating groups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962D1-73B9-4507-973F-7399B7BE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7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DEB7F328-59B5-4FFD-83E6-1DCC47AE5B4A}"/>
              </a:ext>
            </a:extLst>
          </p:cNvPr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10763250" cy="3952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d699b8ad5449a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CA2F13-B63C-47B2-8FA3-5C9A8A2B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B5C70"/>
                </a:solidFill>
                <a:latin typeface="Arial"/>
                <a:ea typeface="Arial"/>
                <a:cs typeface="Arial"/>
              </a:rPr>
              <a:t>Share with the project “18+” label within each genre; at least 100 training titles.</a:t>
            </a:r>
          </a:p>
        </p:txBody>
      </p:sp>
    </p:spTree>
    <p:extLst>
      <p:ext uri="{BB962C8B-B14F-4D97-AF65-F5344CB8AC3E}">
        <p14:creationId xmlns:p14="http://schemas.microsoft.com/office/powerpoint/2010/main" val="10941281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4A06BB-B7E7-479D-B290-E4CC9439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Training and evaluation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F8C00-00CF-4F53-87E9-D2E43900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70"/>
                </a:solidFill>
                <a:latin typeface="Arial"/>
                <a:ea typeface="Arial"/>
                <a:cs typeface="Arial"/>
              </a:rPr>
              <a:t>IE0005  •  Netflix age-rating groups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C5C867-15DC-44ED-89A9-86D38CE3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7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9D25CD-8857-431D-8AF5-6A0DB10C55DE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53750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1619250"/>
                <a:gridCol w="6762750"/>
              </a:tblGrid>
              <a:tr h="777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Partition</a:t>
                      </a:r>
                    </a:p>
                  </a:txBody>
                  <a:tcPr marL="114300" marR="114300" marT="95250" marB="76200">
                    <a:lnL w="9525">
                      <a:solidFill>
                        <a:srgbClr val="D5DFE8"/>
                      </a:solidFill>
                      <a:prstDash val="solid"/>
                    </a:lnL>
                    <a:lnR w="9525">
                      <a:solidFill>
                        <a:srgbClr val="D5DFE8"/>
                      </a:solidFill>
                      <a:prstDash val="solid"/>
                    </a:lnR>
                    <a:lnT w="9525">
                      <a:solidFill>
                        <a:srgbClr val="D5DFE8"/>
                      </a:solidFill>
                      <a:prstDash val="solid"/>
                    </a:lnT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13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Titles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T w="9525">
                      <a:solidFill>
                        <a:srgbClr val="D5DFE8"/>
                      </a:solidFill>
                      <a:prstDash val="solid"/>
                    </a:lnT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13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T w="9525">
                      <a:solidFill>
                        <a:srgbClr val="D5DFE8"/>
                      </a:solidFill>
                      <a:prstDash val="solid"/>
                    </a:lnT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13243A"/>
                    </a:solidFill>
                  </a:tcPr>
                </a:tc>
              </a:tr>
              <a:tr h="777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Training (80%)</a:t>
                      </a:r>
                    </a:p>
                  </a:txBody>
                  <a:tcPr marL="114300" marR="114300" marT="95250" marB="76200">
                    <a:lnL w="9525">
                      <a:solidFill>
                        <a:srgbClr val="D5DFE8"/>
                      </a:solidFill>
                      <a:prstDash val="solid"/>
                    </a:lnL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6,948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Five-fold CV; then refit on all training rows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Test (20%)</a:t>
                      </a:r>
                    </a:p>
                  </a:txBody>
                  <a:tcPr marL="114300" marR="114300" marT="95250" marB="76200">
                    <a:lnL w="9525">
                      <a:solidFill>
                        <a:srgbClr val="D5DFE8"/>
                      </a:solidFill>
                      <a:prstDash val="solid"/>
                    </a:lnL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1,738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Final predeclared comparison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D57A6-C562-4FBA-8FFA-B2EF2760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Tune alpha within the training set: 0.1, 0.5, 1 or 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76EBD-A3DF-4139-8557-D7C84CC2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B5C70"/>
                </a:solidFill>
                <a:latin typeface="Arial"/>
                <a:ea typeface="Arial"/>
                <a:cs typeface="Arial"/>
              </a:rPr>
              <a:t>Combined vocabulary: 17,163 word and prefixed-genre tokens.</a:t>
            </a:r>
          </a:p>
          <a:p xmlns:a="http://schemas.openxmlformats.org/drawingml/2006/main">
            <a:pPr>
              <a:defRPr sz="18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B5C70"/>
                </a:solidFill>
                <a:latin typeface="Arial"/>
                <a:ea typeface="Arial"/>
                <a:cs typeface="Arial"/>
              </a:rPr>
              <a:t>Models: majority baseline, M4 decision tree and three Naive Bayes variants.</a:t>
            </a:r>
          </a:p>
        </p:txBody>
      </p:sp>
    </p:spTree>
    <p:extLst>
      <p:ext uri="{BB962C8B-B14F-4D97-AF65-F5344CB8AC3E}">
        <p14:creationId xmlns:p14="http://schemas.microsoft.com/office/powerpoint/2010/main" val="1065298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2E3BFF-6FA6-4395-805E-E3C00F65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Model comparison on the reserved test 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2A8E2-F743-4488-A287-E4A26A6C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70"/>
                </a:solidFill>
                <a:latin typeface="Arial"/>
                <a:ea typeface="Arial"/>
                <a:cs typeface="Arial"/>
              </a:rPr>
              <a:t>IE0005  •  Netflix age-rating groups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1F918-5281-46A7-81C3-5CE1F7DC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7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C43FEC-5421-47BE-82E7-22FCC27EBF8A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5375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24375"/>
                <a:gridCol w="2143125"/>
                <a:gridCol w="2143125"/>
                <a:gridCol w="2143125"/>
              </a:tblGrid>
              <a:tr h="5715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114300" marR="114300" marT="95250" marB="76200">
                    <a:lnL w="9525">
                      <a:solidFill>
                        <a:srgbClr val="D5DFE8"/>
                      </a:solidFill>
                      <a:prstDash val="solid"/>
                    </a:lnL>
                    <a:lnR w="9525">
                      <a:solidFill>
                        <a:srgbClr val="D5DFE8"/>
                      </a:solidFill>
                      <a:prstDash val="solid"/>
                    </a:lnR>
                    <a:lnT w="9525">
                      <a:solidFill>
                        <a:srgbClr val="D5DFE8"/>
                      </a:solidFill>
                      <a:prstDash val="solid"/>
                    </a:lnT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13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CV macro F1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T w="9525">
                      <a:solidFill>
                        <a:srgbClr val="D5DFE8"/>
                      </a:solidFill>
                      <a:prstDash val="solid"/>
                    </a:lnT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13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accuracy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T w="9525">
                      <a:solidFill>
                        <a:srgbClr val="D5DFE8"/>
                      </a:solidFill>
                      <a:prstDash val="solid"/>
                    </a:lnT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13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macro F1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T w="9525">
                      <a:solidFill>
                        <a:srgbClr val="D5DFE8"/>
                      </a:solidFill>
                      <a:prstDash val="solid"/>
                    </a:lnT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13243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Majority baseline</a:t>
                      </a:r>
                    </a:p>
                  </a:txBody>
                  <a:tcPr marL="114300" marR="114300" marT="95250" marB="76200">
                    <a:lnL w="9525">
                      <a:solidFill>
                        <a:srgbClr val="D5DFE8"/>
                      </a:solidFill>
                      <a:prstDash val="solid"/>
                    </a:lnL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53.9%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0.350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Decision tree · both</a:t>
                      </a:r>
                    </a:p>
                  </a:txBody>
                  <a:tcPr marL="114300" marR="114300" marT="95250" marB="76200">
                    <a:lnL w="9525">
                      <a:solidFill>
                        <a:srgbClr val="D5DFE8"/>
                      </a:solidFill>
                      <a:prstDash val="solid"/>
                    </a:lnL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61.6%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0.537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Naive Bayes · description</a:t>
                      </a:r>
                    </a:p>
                  </a:txBody>
                  <a:tcPr marL="114300" marR="114300" marT="95250" marB="76200">
                    <a:lnL w="9525">
                      <a:solidFill>
                        <a:srgbClr val="D5DFE8"/>
                      </a:solidFill>
                      <a:prstDash val="solid"/>
                    </a:lnL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0.665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66.7%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0.666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Naive Bayes · genre</a:t>
                      </a:r>
                    </a:p>
                  </a:txBody>
                  <a:tcPr marL="114300" marR="114300" marT="95250" marB="76200">
                    <a:lnL w="9525">
                      <a:solidFill>
                        <a:srgbClr val="D5DFE8"/>
                      </a:solidFill>
                      <a:prstDash val="solid"/>
                    </a:lnL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0.672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68.7%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0.677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Naive Bayes · both</a:t>
                      </a:r>
                    </a:p>
                  </a:txBody>
                  <a:tcPr marL="114300" marR="114300" marT="95250" marB="76200">
                    <a:lnL w="9525">
                      <a:solidFill>
                        <a:srgbClr val="D5DFE8"/>
                      </a:solidFill>
                      <a:prstDash val="solid"/>
                    </a:lnL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0.695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70.8%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0.707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EAF5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7A81A-1BC4-487D-86E7-884FDB7A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Combined Naive Bayes: 70.8% test accuracy; best training-CV input.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A46F8E-738C-4C30-81EB-082BCE70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B5C70"/>
                </a:solidFill>
                <a:latin typeface="Arial"/>
                <a:ea typeface="Arial"/>
                <a:cs typeface="Arial"/>
              </a:rPr>
              <a:t>No test-based tuning. Results depend on this fixed split and the project label definition.</a:t>
            </a:r>
          </a:p>
        </p:txBody>
      </p:sp>
    </p:spTree>
    <p:extLst>
      <p:ext uri="{BB962C8B-B14F-4D97-AF65-F5344CB8AC3E}">
        <p14:creationId xmlns:p14="http://schemas.microsoft.com/office/powerpoint/2010/main" val="20527765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92B8FF-EC8C-4264-B22E-39C49EEF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Where the selected model makes mistakes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DDF82-84A1-4B37-947C-7F51850A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70"/>
                </a:solidFill>
                <a:latin typeface="Arial"/>
                <a:ea typeface="Arial"/>
                <a:cs typeface="Arial"/>
              </a:rPr>
              <a:t>IE0005  •  Netflix age-rating groups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5952E-D2D0-4B67-975C-C8C776C4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7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5E35F0-3A83-4645-ADE2-56BC0D1B3C04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72390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1809750"/>
                <a:gridCol w="1809750"/>
              </a:tblGrid>
              <a:tr h="984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Actual ↓ / Predicted →</a:t>
                      </a:r>
                    </a:p>
                  </a:txBody>
                  <a:tcPr marL="114300" marR="114300" marT="95250" marB="76200">
                    <a:lnL w="9525">
                      <a:solidFill>
                        <a:srgbClr val="D5DFE8"/>
                      </a:solidFill>
                      <a:prstDash val="solid"/>
                    </a:lnL>
                    <a:lnR w="9525">
                      <a:solidFill>
                        <a:srgbClr val="D5DFE8"/>
                      </a:solidFill>
                      <a:prstDash val="solid"/>
                    </a:lnR>
                    <a:lnT w="9525">
                      <a:solidFill>
                        <a:srgbClr val="D5DFE8"/>
                      </a:solidFill>
                      <a:prstDash val="solid"/>
                    </a:lnT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13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Not 18+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T w="9525">
                      <a:solidFill>
                        <a:srgbClr val="D5DFE8"/>
                      </a:solidFill>
                      <a:prstDash val="solid"/>
                    </a:lnT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13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18+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T w="9525">
                      <a:solidFill>
                        <a:srgbClr val="D5DFE8"/>
                      </a:solidFill>
                      <a:prstDash val="solid"/>
                    </a:lnT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13243A"/>
                    </a:solidFill>
                  </a:tcPr>
                </a:tc>
              </a:tr>
              <a:tr h="984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Not 18+</a:t>
                      </a:r>
                    </a:p>
                  </a:txBody>
                  <a:tcPr marL="114300" marR="114300" marT="95250" marB="76200">
                    <a:lnL w="9525">
                      <a:solidFill>
                        <a:srgbClr val="D5DFE8"/>
                      </a:solidFill>
                      <a:prstDash val="solid"/>
                    </a:lnL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668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269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4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18+</a:t>
                      </a:r>
                    </a:p>
                  </a:txBody>
                  <a:tcPr marL="114300" marR="114300" marT="95250" marB="76200">
                    <a:lnL w="9525">
                      <a:solidFill>
                        <a:srgbClr val="D5DFE8"/>
                      </a:solidFill>
                      <a:prstDash val="solid"/>
                    </a:lnL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238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563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6CC6DE-95C3-48FA-9BE5-D9520498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Recall by group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7765E-FC8E-4759-9252-1C2F4EEB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7650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325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3243A"/>
                </a:solidFill>
                <a:latin typeface="Arial"/>
                <a:ea typeface="Arial"/>
                <a:cs typeface="Arial"/>
              </a:rPr>
              <a:t>Not 18+: 71.3%</a:t>
            </a:r>
          </a:p>
          <a:p xmlns:a="http://schemas.openxmlformats.org/drawingml/2006/main">
            <a:pPr>
              <a:defRPr sz="2325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3243A"/>
                </a:solidFill>
                <a:latin typeface="Arial"/>
                <a:ea typeface="Arial"/>
                <a:cs typeface="Arial"/>
              </a:rPr>
              <a:t>18+: 70.3%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A6382C-94E5-41A8-B715-F27B4696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238 project “18+” titles are missed; 269 “Not 18+” titles are predicted “18+”.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DE6B86-5207-4344-BFD8-87275E88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B5C70"/>
                </a:solidFill>
                <a:latin typeface="Arial"/>
                <a:ea typeface="Arial"/>
                <a:cs typeface="Arial"/>
              </a:rPr>
              <a:t>Inspect the actual synopses and original ratings to understand these errors.</a:t>
            </a:r>
          </a:p>
        </p:txBody>
      </p:sp>
    </p:spTree>
    <p:extLst>
      <p:ext uri="{BB962C8B-B14F-4D97-AF65-F5344CB8AC3E}">
        <p14:creationId xmlns:p14="http://schemas.microsoft.com/office/powerpoint/2010/main" val="10332192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CD6EC3-DE29-4FF3-A602-DB7F65DA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Project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2E4F3-075F-49B0-B142-3D235F28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70"/>
                </a:solidFill>
                <a:latin typeface="Arial"/>
                <a:ea typeface="Arial"/>
                <a:cs typeface="Arial"/>
              </a:rPr>
              <a:t>IE0005  •  Netflix age-rating groups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61771-24DF-4B3E-BEAF-749BFDD3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7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29AFA4-36BC-46FB-BEC0-A7D0259A86C3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5375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239000"/>
                <a:gridCol w="3714750"/>
              </a:tblGrid>
              <a:tr h="6667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Invented example</a:t>
                      </a:r>
                    </a:p>
                  </a:txBody>
                  <a:tcPr marL="114300" marR="114300" marT="95250" marB="76200">
                    <a:lnL w="9525">
                      <a:solidFill>
                        <a:srgbClr val="D5DFE8"/>
                      </a:solidFill>
                      <a:prstDash val="solid"/>
                    </a:lnL>
                    <a:lnR w="9525">
                      <a:solidFill>
                        <a:srgbClr val="D5DFE8"/>
                      </a:solidFill>
                      <a:prstDash val="solid"/>
                    </a:lnR>
                    <a:lnT w="9525">
                      <a:solidFill>
                        <a:srgbClr val="D5DFE8"/>
                      </a:solidFill>
                      <a:prstDash val="solid"/>
                    </a:lnT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13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Predicted group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T w="9525">
                      <a:solidFill>
                        <a:srgbClr val="D5DFE8"/>
                      </a:solidFill>
                      <a:prstDash val="solid"/>
                    </a:lnT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13243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Forest Friends</a:t>
                      </a:r>
                    </a:p>
                  </a:txBody>
                  <a:tcPr marL="114300" marR="114300" marT="95250" marB="76200">
                    <a:lnL w="9525">
                      <a:solidFill>
                        <a:srgbClr val="D5DFE8"/>
                      </a:solidFill>
                      <a:prstDash val="solid"/>
                    </a:lnL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Not 18+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The Missing Witness</a:t>
                      </a:r>
                    </a:p>
                  </a:txBody>
                  <a:tcPr marL="114300" marR="114300" marT="95250" marB="76200">
                    <a:lnL w="9525">
                      <a:solidFill>
                        <a:srgbClr val="D5DFE8"/>
                      </a:solidFill>
                      <a:prstDash val="solid"/>
                    </a:lnL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18+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Second Chance</a:t>
                      </a:r>
                    </a:p>
                  </a:txBody>
                  <a:tcPr marL="114300" marR="114300" marT="95250" marB="76200">
                    <a:lnL w="9525">
                      <a:solidFill>
                        <a:srgbClr val="D5DFE8"/>
                      </a:solidFill>
                      <a:prstDash val="solid"/>
                    </a:lnL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Not 18+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5FA977-D4FC-4F00-9068-A56D32E9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Edit genre and description → run the demo cell → inspect the prediction.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35245-B5A2-4148-9C0B-43826117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B5C70"/>
                </a:solidFill>
                <a:latin typeface="Arial"/>
                <a:ea typeface="Arial"/>
                <a:cs typeface="Arial"/>
              </a:rPr>
              <a:t>These are invented examples with unknown true labels.</a:t>
            </a:r>
          </a:p>
          <a:p xmlns:a="http://schemas.openxmlformats.org/drawingml/2006/main">
            <a:pPr>
              <a:defRPr sz="172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B5C70"/>
                </a:solidFill>
                <a:latin typeface="Arial"/>
                <a:ea typeface="Arial"/>
                <a:cs typeface="Arial"/>
              </a:rPr>
              <a:t>Model probabilities are uncalibrated scores, not a guarantee.</a:t>
            </a:r>
          </a:p>
        </p:txBody>
      </p:sp>
    </p:spTree>
    <p:extLst>
      <p:ext uri="{BB962C8B-B14F-4D97-AF65-F5344CB8AC3E}">
        <p14:creationId xmlns:p14="http://schemas.microsoft.com/office/powerpoint/2010/main" val="8351006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DB8737-08DA-4768-AF56-8225F1CB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Findings and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5EEBC-6336-476B-B66B-2DE5EAF1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70"/>
                </a:solidFill>
                <a:latin typeface="Arial"/>
                <a:ea typeface="Arial"/>
                <a:cs typeface="Arial"/>
              </a:rPr>
              <a:t>IE0005  •  Netflix age-rating groups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5F0FD-BC53-4A25-B922-BD612C00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7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AFAB40-85DD-4A76-AA4C-9D269D5F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7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Genre and synopsis carry useful signal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F0C8D-B58F-4CAF-98F2-7CEF836D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3243A"/>
                </a:solidFill>
                <a:latin typeface="Arial"/>
                <a:ea typeface="Arial"/>
                <a:cs typeface="Arial"/>
              </a:rPr>
              <a:t>Combined Naive Bayes improves on the majority baseline.</a:t>
            </a:r>
          </a:p>
          <a:p xmlns:a="http://schemas.openxmlformats.org/drawingml/2006/main">
            <a:pPr>
              <a:defRPr sz="2175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3243A"/>
                </a:solidFill>
                <a:latin typeface="Arial"/>
                <a:ea typeface="Arial"/>
                <a:cs typeface="Arial"/>
              </a:rPr>
              <a:t>Combining inputs beats either input alone on this test split.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B7BE1F-AC80-48D8-A4F2-5D3FE950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Limits of the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C0325-7376-4B35-9822-940F26BA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1095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243A"/>
                </a:solidFill>
                <a:latin typeface="Arial"/>
                <a:ea typeface="Arial"/>
                <a:cs typeface="Arial"/>
              </a:rPr>
              <a:t>The “18+” proxy is not an official shared age threshold.</a:t>
            </a:r>
          </a:p>
          <a:p xmlns:a="http://schemas.openxmlformats.org/drawingml/2006/main">
            <a:pPr>
              <a:defRPr sz="2100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243A"/>
                </a:solidFill>
                <a:latin typeface="Arial"/>
                <a:ea typeface="Arial"/>
                <a:cs typeface="Arial"/>
              </a:rPr>
              <a:t>Short synopses can omit content relevant to ratings.</a:t>
            </a:r>
          </a:p>
          <a:p xmlns:a="http://schemas.openxmlformats.org/drawingml/2006/main">
            <a:pPr>
              <a:defRPr sz="2100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243A"/>
                </a:solidFill>
                <a:latin typeface="Arial"/>
                <a:ea typeface="Arial"/>
                <a:cs typeface="Arial"/>
              </a:rPr>
              <a:t>One split does not guarantee performance on future Netflix titles.</a:t>
            </a:r>
          </a:p>
        </p:txBody>
      </p:sp>
    </p:spTree>
    <p:extLst>
      <p:ext uri="{BB962C8B-B14F-4D97-AF65-F5344CB8AC3E}">
        <p14:creationId xmlns:p14="http://schemas.microsoft.com/office/powerpoint/2010/main" val="2983327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431CB7-0400-48CC-8BF3-0E250828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Code origins and extensions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6779F4-6369-4451-9679-1B918310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70"/>
                </a:solidFill>
                <a:latin typeface="Arial"/>
                <a:ea typeface="Arial"/>
                <a:cs typeface="Arial"/>
              </a:rPr>
              <a:t>IE0005  •  Netflix age-rating groups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7CC4DA-9B31-42B8-B12D-99FD36BF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B5C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7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F9E09B-8BCA-49DF-B454-325028A3E11A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5375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715250"/>
              </a:tblGrid>
              <a:tr h="6858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Basis</a:t>
                      </a:r>
                    </a:p>
                  </a:txBody>
                  <a:tcPr marL="114300" marR="114300" marT="95250" marB="76200">
                    <a:lnL w="9525">
                      <a:solidFill>
                        <a:srgbClr val="D5DFE8"/>
                      </a:solidFill>
                      <a:prstDash val="solid"/>
                    </a:lnL>
                    <a:lnR w="9525">
                      <a:solidFill>
                        <a:srgbClr val="D5DFE8"/>
                      </a:solidFill>
                      <a:prstDash val="solid"/>
                    </a:lnR>
                    <a:lnT w="9525">
                      <a:solidFill>
                        <a:srgbClr val="D5DFE8"/>
                      </a:solidFill>
                      <a:prstDash val="solid"/>
                    </a:lnT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13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Used for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T w="9525">
                      <a:solidFill>
                        <a:srgbClr val="D5DFE8"/>
                      </a:solidFill>
                      <a:prstDash val="solid"/>
                    </a:lnT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13243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M1 + M2</a:t>
                      </a:r>
                    </a:p>
                  </a:txBody>
                  <a:tcPr marL="114300" marR="114300" marT="95250" marB="76200">
                    <a:lnL w="9525">
                      <a:solidFill>
                        <a:srgbClr val="D5DFE8"/>
                      </a:solidFill>
                      <a:prstDash val="solid"/>
                    </a:lnL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Read, inspect, clean and visualize the dataset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M4</a:t>
                      </a:r>
                    </a:p>
                  </a:txBody>
                  <a:tcPr marL="114300" marR="114300" marT="95250" marB="76200">
                    <a:lnL w="9525">
                      <a:solidFill>
                        <a:srgbClr val="D5DFE8"/>
                      </a:solidFill>
                      <a:prstDash val="solid"/>
                    </a:lnL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Split data, fit decision tree, evaluate and demonstrate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M5</a:t>
                      </a:r>
                    </a:p>
                  </a:txBody>
                  <a:tcPr marL="114300" marR="114300" marT="95250" marB="76200">
                    <a:lnL w="9525">
                      <a:solidFill>
                        <a:srgbClr val="D5DFE8"/>
                      </a:solidFill>
                      <a:prstDash val="solid"/>
                    </a:lnL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Optional clustering and anomaly review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Outside course examples</a:t>
                      </a:r>
                    </a:p>
                  </a:txBody>
                  <a:tcPr marL="114300" marR="114300" marT="95250" marB="76200">
                    <a:lnL w="9525">
                      <a:solidFill>
                        <a:srgbClr val="D5DFE8"/>
                      </a:solidFill>
                      <a:prstDash val="solid"/>
                    </a:lnL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43A"/>
                          </a:solidFill>
                          <a:latin typeface="Arial"/>
                          <a:ea typeface="Arial"/>
                          <a:cs typeface="Arial"/>
                        </a:rPr>
                        <a:t>Text features, Naive Bayes, tuning, metrics and exports</a:t>
                      </a:r>
                    </a:p>
                  </a:txBody>
                  <a:tcPr marL="114300" marR="114300" marT="95250" marB="76200">
                    <a:lnR w="9525">
                      <a:solidFill>
                        <a:srgbClr val="D5DFE8"/>
                      </a:solidFill>
                      <a:prstDash val="solid"/>
                    </a:lnR>
                    <a:lnB w="9525">
                      <a:solidFill>
                        <a:srgbClr val="D5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2C941-4851-4B4C-9264-0EA09849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The notebook labels course adaptations, new project logic and external APIs cell by cell.</a:t>
            </a:r>
          </a:p>
        </p:txBody>
      </p:sp>
    </p:spTree>
    <p:extLst>
      <p:ext uri="{BB962C8B-B14F-4D97-AF65-F5344CB8AC3E}">
        <p14:creationId xmlns:p14="http://schemas.microsoft.com/office/powerpoint/2010/main" val="7830146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2026-10-20T06:51:17.7360000Z</dcterms:created>
  <dcterms:modified xsi:type="dcterms:W3CDTF">2026-10-20T06:51:17.7360000Z</dcterms:modified>
</coreProperties>
</file>